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457200"/>
            <a:ext cx="548640" cy="54864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5303520"/>
            <a:ext cx="731520" cy="7315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TECHCITTA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96FF"/>
                </a:solidFill>
                <a:latin typeface="Segoe UI"/>
              </a:defRPr>
            </a:pPr>
            <a:r>
              <a:t>Architecture &amp;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Segoe UI"/>
              </a:defRPr>
            </a:pPr>
            <a:r>
              <a:t>AI-Powered Hiring Platform  |  Talent to Talent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657600"/>
            <a:ext cx="2103120" cy="36576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E8A"/>
                </a:solidFill>
                <a:latin typeface="Segoe UI"/>
              </a:defRPr>
            </a:pPr>
            <a:r>
              <a:t>Client-Friendly Technical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E8A"/>
                </a:solidFill>
                <a:latin typeface="Segoe UI"/>
              </a:defRPr>
            </a:pPr>
            <a:r>
              <a:t>August 2026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What Is Techcitta?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2286000" cy="36576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128016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Segoe UI"/>
              </a:defRPr>
            </a:pPr>
            <a:r>
              <a:t>An AI-powered hiring platform where candidates record video interviews</a:t>
            </a:r>
          </a:p>
          <a:p>
            <a:pPr algn="ctr">
              <a:defRPr sz="1800">
                <a:solidFill>
                  <a:srgbClr val="FFFFFF"/>
                </a:solidFill>
                <a:latin typeface="Segoe UI"/>
              </a:defRPr>
            </a:pPr>
            <a:r>
              <a:t>that are automatically evaluated by AI, and admins review results on a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017520"/>
            <a:ext cx="1645920" cy="10972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Signup</a:t>
            </a:r>
          </a:p>
        </p:txBody>
      </p:sp>
      <p:sp>
        <p:nvSpPr>
          <p:cNvPr id="7" name="Down Arrow 6"/>
          <p:cNvSpPr/>
          <p:nvPr/>
        </p:nvSpPr>
        <p:spPr>
          <a:xfrm>
            <a:off x="2057400" y="3383280"/>
            <a:ext cx="182880" cy="320040"/>
          </a:xfrm>
          <a:prstGeom prst="downArrow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3017520"/>
            <a:ext cx="1645920" cy="10972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Fill Profile</a:t>
            </a:r>
            <a:br/>
            <a:r>
              <a:t>(7 Steps)</a:t>
            </a:r>
          </a:p>
        </p:txBody>
      </p:sp>
      <p:sp>
        <p:nvSpPr>
          <p:cNvPr id="9" name="Down Arrow 8"/>
          <p:cNvSpPr/>
          <p:nvPr/>
        </p:nvSpPr>
        <p:spPr>
          <a:xfrm>
            <a:off x="3977639" y="3383280"/>
            <a:ext cx="182880" cy="320040"/>
          </a:xfrm>
          <a:prstGeom prst="down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3017520"/>
            <a:ext cx="1645920" cy="10972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Schedule</a:t>
            </a:r>
            <a:br/>
            <a:r>
              <a:t>Interview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97880" y="3383280"/>
            <a:ext cx="182880" cy="320040"/>
          </a:xfrm>
          <a:prstGeom prst="down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3017520"/>
            <a:ext cx="1645920" cy="10972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AI Interview</a:t>
            </a:r>
            <a:br/>
            <a:r>
              <a:t>(6 Questions)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818120" y="3383280"/>
            <a:ext cx="182880" cy="320040"/>
          </a:xfrm>
          <a:prstGeom prst="down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3017520"/>
            <a:ext cx="1645920" cy="10972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AI Scores</a:t>
            </a:r>
            <a:br/>
            <a:r>
              <a:t>&amp; Recommends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738360" y="3383280"/>
            <a:ext cx="182880" cy="320040"/>
          </a:xfrm>
          <a:prstGeom prst="downArrow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66960" y="3017520"/>
            <a:ext cx="1645920" cy="10972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Admin Reviews</a:t>
            </a:r>
            <a:br/>
            <a:r>
              <a:t>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2560320" cy="18288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6FF"/>
                </a:solidFill>
                <a:latin typeface="Segoe UI"/>
              </a:defRPr>
            </a:pPr>
            <a:r>
              <a:t>AI Video Interview</a:t>
            </a: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AI asks 6 questions, scores answers,</a:t>
            </a:r>
            <a:br/>
            <a:r>
              <a:t>recommends Hire/Consider/Reject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572000"/>
            <a:ext cx="2560320" cy="18288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Anti-Cheating</a:t>
            </a: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Detects if candidate looks away,</a:t>
            </a:r>
            <a:br/>
            <a:r>
              <a:t>hides face, or another person appears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72000"/>
            <a:ext cx="2560320" cy="18288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Multi-Tenant</a:t>
            </a: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Each company gets isolated workspace</a:t>
            </a:r>
            <a:br/>
            <a:r>
              <a:t>with separate data &amp; branding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4572000"/>
            <a:ext cx="2560320" cy="18288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  <a:latin typeface="Segoe UI"/>
              </a:defRPr>
            </a:pPr>
            <a:r>
              <a:t>Plan System</a:t>
            </a: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Starter (3/mo), Pro (100/mo),</a:t>
            </a:r>
            <a:br/>
            <a:r>
              <a:t>Enterprise (Unlimited)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System Architecture – 5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2926080" cy="36576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188720"/>
            <a:ext cx="10515600" cy="914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96FF"/>
                </a:solidFill>
                <a:latin typeface="Segoe UI"/>
              </a:defRPr>
            </a:pPr>
            <a:r>
              <a:t>  LAYER 1: FRONTEND</a:t>
            </a:r>
          </a:p>
          <a:p>
            <a:pPr>
              <a:defRPr sz="1100">
                <a:solidFill>
                  <a:srgbClr val="B0BCD4"/>
                </a:solidFill>
                <a:latin typeface="Segoe UI"/>
              </a:defRPr>
            </a:pPr>
            <a:r>
              <a:t>  React 19 + Next.js 16 + Tailwind CSS  |  16+ Pages: Landing, Signup, Profile, Interview Room,</a:t>
            </a:r>
            <a:br/>
            <a:r>
              <a:t>Admin Dashboard, Pricing, Settings, GDPR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331720"/>
            <a:ext cx="502920" cy="5029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240280"/>
            <a:ext cx="10515600" cy="914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D4AA"/>
                </a:solidFill>
                <a:latin typeface="Segoe UI"/>
              </a:defRPr>
            </a:pPr>
            <a:r>
              <a:t>  LAYER 2: MIDDLEWARE</a:t>
            </a:r>
          </a:p>
          <a:p>
            <a:pPr>
              <a:defRPr sz="1100">
                <a:solidFill>
                  <a:srgbClr val="B0BCD4"/>
                </a:solidFill>
                <a:latin typeface="Segoe UI"/>
              </a:defRPr>
            </a:pPr>
            <a:r>
              <a:t>  Security Gate – Every Request Passes Through  |  Rate Limiting | JWT Auth | CORS | Input Validation</a:t>
            </a:r>
            <a:br/>
            <a:r>
              <a:t>Org Isolation | Plan Enforcement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383279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291839"/>
            <a:ext cx="10515600" cy="914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  LAYER 3: BACKEND</a:t>
            </a:r>
          </a:p>
          <a:p>
            <a:pPr>
              <a:defRPr sz="1100">
                <a:solidFill>
                  <a:srgbClr val="B0BCD4"/>
                </a:solidFill>
                <a:latin typeface="Segoe UI"/>
              </a:defRPr>
            </a:pPr>
            <a:r>
              <a:t>  16 API Routes (Serverless Functions on Vercel)  |  Auth, Profile, Interview, AI Engine, Upload,</a:t>
            </a:r>
            <a:br/>
            <a:r>
              <a:t>Billing, Admin, Account, Reminders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434840"/>
            <a:ext cx="502920" cy="5029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343400"/>
            <a:ext cx="10515600" cy="914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F9F43"/>
                </a:solidFill>
                <a:latin typeface="Segoe UI"/>
              </a:defRPr>
            </a:pPr>
            <a:r>
              <a:t>  LAYER 4: DATABASE</a:t>
            </a:r>
          </a:p>
          <a:p>
            <a:pPr>
              <a:defRPr sz="1100">
                <a:solidFill>
                  <a:srgbClr val="B0BCD4"/>
                </a:solidFill>
                <a:latin typeface="Segoe UI"/>
              </a:defRPr>
            </a:pPr>
            <a:r>
              <a:t>  Turso (libSQL Cloud) + Prisma ORM  |  5 Tables: Organization, User, Profile,</a:t>
            </a:r>
            <a:br/>
            <a:r>
              <a:t>Interview, VerificationToken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5486399"/>
            <a:ext cx="502920" cy="5029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394959"/>
            <a:ext cx="10515600" cy="914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D4AA"/>
                </a:solidFill>
                <a:latin typeface="Segoe UI"/>
              </a:defRPr>
            </a:pPr>
            <a:r>
              <a:t>  LAYER 5: EXTERNAL SERVICES</a:t>
            </a:r>
          </a:p>
          <a:p>
            <a:pPr>
              <a:defRPr sz="1100">
                <a:solidFill>
                  <a:srgbClr val="B0BCD4"/>
                </a:solidFill>
                <a:latin typeface="Segoe UI"/>
              </a:defRPr>
            </a:pPr>
            <a:r>
              <a:t>  Cloudflare R2 | Stripe | OpenAI | Email | WhatsApp  |  Video Storage | Payments | AI Brain</a:t>
            </a:r>
            <a:br/>
            <a:r>
              <a:t>Transactional Email | Reminders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Layer 1: Frontend (What Users See)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200400" cy="36576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029200" cy="914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6FF"/>
                </a:solidFill>
                <a:latin typeface="Segoe UI"/>
              </a:defRPr>
            </a:pPr>
            <a:r>
              <a:t>  Tech Stack: React 19  |  Next.js 16  |  Tailwind CSS  |  TypeScript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Runs entirely in the user's browser (Mobile + Desktop)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3657600" cy="41148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96FF"/>
                </a:solidFill>
                <a:latin typeface="Segoe UI"/>
              </a:defRPr>
            </a:pPr>
            <a:r>
              <a:t>  Public Pages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Landing Page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Signup &amp; Login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/signup, /login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Pricing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/pricing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Enterprise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/enterprise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Terms &amp; Privacy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/terms, /privacy</a:t>
            </a:r>
          </a:p>
          <a:p>
            <a:pPr>
              <a:defRPr sz="400"/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114800" y="2377440"/>
            <a:ext cx="3657600" cy="41148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  User Pages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Profile Wizard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/profile (7 steps)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Interview Schedule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/interview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AI Live Room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/interview/live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Confirmation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/confirmation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Settings &amp; GDPR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/settings</a:t>
            </a:r>
          </a:p>
          <a:p>
            <a:pPr>
              <a:defRPr sz="400"/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7772400" y="2377440"/>
            <a:ext cx="3657600" cy="41148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  <a:latin typeface="Segoe UI"/>
              </a:defRPr>
            </a:pPr>
            <a:r>
              <a:t>  Admin Pages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Admin Dashboard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/admin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User Management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/admin (user list)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Interview Reviews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/admin (video playback)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  Billing Portal</a:t>
            </a: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    /settings (Stripe)</a:t>
            </a:r>
          </a:p>
          <a:p>
            <a:pPr>
              <a:defRPr sz="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Layer 2: Middleware (Security Gate)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200400" cy="36576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Segoe UI"/>
              </a:defRPr>
            </a:pPr>
            <a:r>
              <a:t>Every request must pass through these 6 security checks before reaching the backend: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920240" cy="3200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6FF"/>
                </a:solidFill>
                <a:latin typeface="Segoe UI"/>
              </a:defRPr>
            </a:pPr>
            <a:r>
              <a:t>RATE LIMITER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Max 20 requests</a:t>
            </a:r>
            <a:br/>
            <a:r>
              <a:t>per minute per IP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606E8A"/>
                </a:solidFill>
                <a:latin typeface="Segoe UI"/>
              </a:defRPr>
            </a:pPr>
            <a:r>
              <a:t>Blocks brute-force</a:t>
            </a:r>
            <a:br/>
            <a:r>
              <a:t>attacks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737360"/>
            <a:ext cx="1920240" cy="3200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JWT AUTH</a:t>
            </a:r>
            <a:br/>
            <a:r>
              <a:t>VERIFIER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Validates login</a:t>
            </a:r>
            <a:br/>
            <a:r>
              <a:t>tokens (7-day expiry)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606E8A"/>
                </a:solidFill>
                <a:latin typeface="Segoe UI"/>
              </a:defRPr>
            </a:pPr>
            <a:r>
              <a:t>Only logged-in</a:t>
            </a:r>
            <a:br/>
            <a:r>
              <a:t>users can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737360"/>
            <a:ext cx="1920240" cy="3200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  <a:latin typeface="Segoe UI"/>
              </a:defRPr>
            </a:pPr>
            <a:r>
              <a:t>CORS</a:t>
            </a:r>
            <a:br/>
            <a:r>
              <a:t>PROTECTOR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Only allows</a:t>
            </a:r>
            <a:br/>
            <a:r>
              <a:t>trusted domains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606E8A"/>
                </a:solidFill>
                <a:latin typeface="Segoe UI"/>
              </a:defRPr>
            </a:pPr>
            <a:r>
              <a:t>Prevents unauthorized</a:t>
            </a:r>
            <a:br/>
            <a:r>
              <a:t>domains from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737360"/>
            <a:ext cx="1920240" cy="3200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F43"/>
                </a:solidFill>
                <a:latin typeface="Segoe UI"/>
              </a:defRPr>
            </a:pPr>
            <a:r>
              <a:t>INPUT</a:t>
            </a:r>
            <a:br/>
            <a:r>
              <a:t>VALIDATOR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Sanitizes email,</a:t>
            </a:r>
            <a:br/>
            <a:r>
              <a:t>password, phone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606E8A"/>
                </a:solidFill>
                <a:latin typeface="Segoe UI"/>
              </a:defRPr>
            </a:pPr>
            <a:r>
              <a:t>Prevents injection</a:t>
            </a:r>
            <a:br/>
            <a:r>
              <a:t>attacks (SQL/XSS)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737360"/>
            <a:ext cx="1920240" cy="3200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ORG</a:t>
            </a:r>
            <a:br/>
            <a:r>
              <a:t>ISOLATOR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Each company sees</a:t>
            </a:r>
            <a:br/>
            <a:r>
              <a:t>ONLY their data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606E8A"/>
                </a:solidFill>
                <a:latin typeface="Segoe UI"/>
              </a:defRPr>
            </a:pPr>
            <a:r>
              <a:t>Google cannot see</a:t>
            </a:r>
            <a:br/>
            <a:r>
              <a:t>Microsoft's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1737360"/>
            <a:ext cx="1920240" cy="32004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4545"/>
                </a:solidFill>
                <a:latin typeface="Segoe UI"/>
              </a:defRPr>
            </a:pPr>
            <a:r>
              <a:t>PLAN</a:t>
            </a:r>
            <a:br/>
            <a:r>
              <a:t>ENFORCER</a:t>
            </a:r>
          </a:p>
          <a:p>
            <a:pPr>
              <a:defRPr sz="600"/>
            </a:pPr>
          </a:p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Checks interview</a:t>
            </a:r>
            <a:br/>
            <a:r>
              <a:t>limits per tier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606E8A"/>
                </a:solidFill>
                <a:latin typeface="Segoe UI"/>
              </a:defRPr>
            </a:pPr>
            <a:r>
              <a:t>Starter: 3/mo</a:t>
            </a:r>
            <a:br/>
            <a:r>
              <a:t>Pro: 100/mo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11064240" cy="128016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  WHY THIS MATTERS: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Without middleware, any user could access any company's data, spam the API, or inject malicious code.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Middleware acts as a bouncer – checking IDs, limiting visits, and keeping bad actors out before they reach the server.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Layer 3: Backend (16 API Routes)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200400" cy="36576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Segoe UI"/>
              </a:defRPr>
            </a:pPr>
            <a:r>
              <a:t>Each route = Serverless Function on Vercel  |  Auto-scales with traffic  |  Pay only for what you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9748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96FF"/>
                </a:solidFill>
                <a:latin typeface="Segoe UI"/>
              </a:defRPr>
            </a:pPr>
            <a:r>
              <a:t>  AUTH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/signup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/login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Register &amp; authenticate</a:t>
            </a:r>
            <a:br/>
            <a:r>
              <a:t>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45920"/>
            <a:ext cx="269748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D4AA"/>
                </a:solidFill>
                <a:latin typeface="Segoe UI"/>
              </a:defRPr>
            </a:pPr>
            <a:r>
              <a:t>  PROFILE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GET /profile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PUT /profile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7-step onboarding</a:t>
            </a:r>
            <a:br/>
            <a:r>
              <a:t>wizard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69748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  INTERVIEW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GET /interview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POST /interview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PATCH /interview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Schedule, start &amp;</a:t>
            </a:r>
            <a:br/>
            <a:r>
              <a:t>complete interviews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645920"/>
            <a:ext cx="269748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9F43"/>
                </a:solidFill>
                <a:latin typeface="Segoe UI"/>
              </a:defRPr>
            </a:pPr>
            <a:r>
              <a:t>  AI ENGINE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POST /ai-interview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Generate questions</a:t>
            </a:r>
            <a:br/>
            <a:r>
              <a:t>&amp; evaluate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269748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D4AA"/>
                </a:solidFill>
                <a:latin typeface="Segoe UI"/>
              </a:defRPr>
            </a:pPr>
            <a:r>
              <a:t>  UPLOAD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POST /upload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GET /files/*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Video &amp; resume</a:t>
            </a:r>
            <a:br/>
            <a:r>
              <a:t>file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4206240"/>
            <a:ext cx="269748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96FF"/>
                </a:solidFill>
                <a:latin typeface="Segoe UI"/>
              </a:defRPr>
            </a:pPr>
            <a:r>
              <a:t>  BILLING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/checkout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/webhook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/portal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Stripe subscription</a:t>
            </a:r>
            <a:br/>
            <a:r>
              <a:t>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269748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D4AA"/>
                </a:solidFill>
                <a:latin typeface="Segoe UI"/>
              </a:defRPr>
            </a:pPr>
            <a:r>
              <a:t>  ADMIN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GET /stats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GET /users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Dashboard stats</a:t>
            </a:r>
            <a:br/>
            <a:r>
              <a:t>&amp; user 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4206240"/>
            <a:ext cx="269748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  ACCOUNT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GET /me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GET /export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POST /delete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606E8A"/>
                </a:solidFill>
                <a:latin typeface="Segoe UI"/>
              </a:defRPr>
            </a:pPr>
            <a:r>
              <a:t>  GDPR data export</a:t>
            </a:r>
            <a:br/>
            <a:r>
              <a:t>&amp; deletion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Layer 4: Database (Turso + Prisma ORM)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657600" cy="36576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743200" cy="41148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9F43"/>
                </a:solidFill>
                <a:latin typeface="Segoe UI"/>
              </a:defRPr>
            </a:pPr>
            <a:r>
              <a:t>  Organization</a:t>
            </a:r>
          </a:p>
          <a:p>
            <a:pPr>
              <a:defRPr sz="800">
                <a:solidFill>
                  <a:srgbClr val="606E8A"/>
                </a:solidFill>
                <a:latin typeface="Segoe UI"/>
              </a:defRPr>
            </a:pPr>
            <a:r>
              <a:t>  ──────────────────────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id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name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slug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plan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planStatus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stripeCustomerId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primaryColor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accentColor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188720"/>
            <a:ext cx="2743200" cy="41148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96FF"/>
                </a:solidFill>
                <a:latin typeface="Segoe UI"/>
              </a:defRPr>
            </a:pPr>
            <a:r>
              <a:t>  User</a:t>
            </a:r>
          </a:p>
          <a:p>
            <a:pPr>
              <a:defRPr sz="800">
                <a:solidFill>
                  <a:srgbClr val="606E8A"/>
                </a:solidFill>
                <a:latin typeface="Segoe UI"/>
              </a:defRPr>
            </a:pPr>
            <a:r>
              <a:t>  ──────────────────────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id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email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password (bcrypt)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name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role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emailVerifiedAt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organizationId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188720"/>
            <a:ext cx="2743200" cy="41148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  Profile</a:t>
            </a:r>
          </a:p>
          <a:p>
            <a:pPr>
              <a:defRPr sz="800">
                <a:solidFill>
                  <a:srgbClr val="606E8A"/>
                </a:solidFill>
                <a:latin typeface="Segoe UI"/>
              </a:defRPr>
            </a:pPr>
            <a:r>
              <a:t>  ──────────────────────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userId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resumeUrl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aboutYou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skills[]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education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step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isComplete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188720"/>
            <a:ext cx="2743200" cy="41148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  <a:latin typeface="Segoe UI"/>
              </a:defRPr>
            </a:pPr>
            <a:r>
              <a:t>  Interview</a:t>
            </a:r>
          </a:p>
          <a:p>
            <a:pPr>
              <a:defRPr sz="800">
                <a:solidFill>
                  <a:srgbClr val="606E8A"/>
                </a:solidFill>
                <a:latin typeface="Segoe UI"/>
              </a:defRPr>
            </a:pPr>
            <a:r>
              <a:t>  ──────────────────────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userId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date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time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status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videoUrl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evaluation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evaluationScore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    proctoringReport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  RELATIONSHIPS:   Organization (1) ──▶ (many) User   |   User (1) ──▶ (1) Profile   |   User (1) ──▶ (1) Interview   |   User (1) ──▶ (many) VerificationToken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Turso = Edge Database (30+ global locations)  |  Automatic replication &amp; failover  |  Handles 1000s of concurrent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Layer 5: External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2743200" cy="36576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194560" cy="53035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96FF"/>
                </a:solidFill>
                <a:latin typeface="Segoe UI"/>
              </a:defRPr>
            </a:pPr>
            <a:r>
              <a:t>  STORAGE</a:t>
            </a: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  Cloudflare R2</a:t>
            </a:r>
          </a:p>
          <a:p>
            <a:pPr algn="ctr">
              <a:defRPr sz="1200">
                <a:solidFill>
                  <a:srgbClr val="0096FF"/>
                </a:solidFill>
                <a:latin typeface="Segoe UI"/>
              </a:defRPr>
            </a:pPr>
            <a:r>
              <a:t>  Video &amp; Resume</a:t>
            </a:r>
            <a:br/>
            <a:r>
              <a:t>Storage</a:t>
            </a:r>
          </a:p>
          <a:p>
            <a:pPr>
              <a:defRPr sz="800">
                <a:solidFill>
                  <a:srgbClr val="606E8A"/>
                </a:solidFill>
                <a:latin typeface="Segoe UI"/>
              </a:defRPr>
            </a:pPr>
            <a:r>
              <a:t>  ──────────────────────</a:t>
            </a:r>
          </a:p>
          <a:p>
            <a:pPr>
              <a:defRPr sz="1100">
                <a:solidFill>
                  <a:srgbClr val="B0BCD4"/>
                </a:solidFill>
                <a:latin typeface="Segoe UI"/>
              </a:defRPr>
            </a:pPr>
            <a:r>
              <a:t>  100+ edge locations</a:t>
            </a:r>
            <a:br/>
            <a:r>
              <a:t>worldwide</a:t>
            </a:r>
            <a:br/>
            <a:br/>
            <a:r>
              <a:t>Videos upload DIRECTLY</a:t>
            </a:r>
            <a:br/>
            <a:r>
              <a:t>from browser</a:t>
            </a:r>
            <a:br/>
            <a:r>
              <a:t>(no server bandwidth)</a:t>
            </a:r>
            <a:br/>
            <a:br/>
            <a:r>
              <a:t>Free tier: 10GB storage</a:t>
            </a:r>
            <a:br/>
            <a:r>
              <a:t>10M reads/month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39" y="1188720"/>
            <a:ext cx="2194560" cy="53035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4AA"/>
                </a:solidFill>
                <a:latin typeface="Segoe UI"/>
              </a:defRPr>
            </a:pPr>
            <a:r>
              <a:t>  PAYMENTS</a:t>
            </a: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  Stripe</a:t>
            </a:r>
          </a:p>
          <a:p>
            <a:pPr algn="ctr">
              <a:defRPr sz="1200">
                <a:solidFill>
                  <a:srgbClr val="00D4AA"/>
                </a:solidFill>
                <a:latin typeface="Segoe UI"/>
              </a:defRPr>
            </a:pPr>
            <a:r>
              <a:t>  Subscription</a:t>
            </a:r>
            <a:br/>
            <a:r>
              <a:t>Billing</a:t>
            </a:r>
          </a:p>
          <a:p>
            <a:pPr>
              <a:defRPr sz="800">
                <a:solidFill>
                  <a:srgbClr val="606E8A"/>
                </a:solidFill>
                <a:latin typeface="Segoe UI"/>
              </a:defRPr>
            </a:pPr>
            <a:r>
              <a:t>  ──────────────────────</a:t>
            </a:r>
          </a:p>
          <a:p>
            <a:pPr>
              <a:defRPr sz="1100">
                <a:solidFill>
                  <a:srgbClr val="B0BCD4"/>
                </a:solidFill>
                <a:latin typeface="Segoe UI"/>
              </a:defRPr>
            </a:pPr>
            <a:r>
              <a:t>  Monthly plans:</a:t>
            </a:r>
            <a:br/>
            <a:r>
              <a:t>Starter / Pro / Enterprise</a:t>
            </a:r>
            <a:br/>
            <a:br/>
            <a:r>
              <a:t>Multi-currency support</a:t>
            </a:r>
            <a:br/>
            <a:r>
              <a:t>(8 currencies)</a:t>
            </a:r>
            <a:br/>
            <a:br/>
            <a:r>
              <a:t>2.9% + $0.30</a:t>
            </a:r>
            <a:br/>
            <a:r>
              <a:t>per transaction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59" y="1188720"/>
            <a:ext cx="2194560" cy="53035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855F7"/>
                </a:solidFill>
                <a:latin typeface="Segoe UI"/>
              </a:defRPr>
            </a:pPr>
            <a:r>
              <a:t>  AI ENGINE</a:t>
            </a: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  OpenAI GPT-5</a:t>
            </a:r>
          </a:p>
          <a:p>
            <a:pPr algn="ctr">
              <a:defRPr sz="1200">
                <a:solidFill>
                  <a:srgbClr val="A855F7"/>
                </a:solidFill>
                <a:latin typeface="Segoe UI"/>
              </a:defRPr>
            </a:pPr>
            <a:r>
              <a:t>  AI Brain</a:t>
            </a:r>
          </a:p>
          <a:p>
            <a:pPr>
              <a:defRPr sz="800">
                <a:solidFill>
                  <a:srgbClr val="606E8A"/>
                </a:solidFill>
                <a:latin typeface="Segoe UI"/>
              </a:defRPr>
            </a:pPr>
            <a:r>
              <a:t>  ──────────────────────</a:t>
            </a:r>
          </a:p>
          <a:p>
            <a:pPr>
              <a:defRPr sz="1100">
                <a:solidFill>
                  <a:srgbClr val="B0BCD4"/>
                </a:solidFill>
                <a:latin typeface="Segoe UI"/>
              </a:defRPr>
            </a:pPr>
            <a:r>
              <a:t>  Generates interview</a:t>
            </a:r>
            <a:br/>
            <a:r>
              <a:t>questions based on:</a:t>
            </a:r>
            <a:br/>
            <a:r>
              <a:t>- Candidate skills</a:t>
            </a:r>
            <a:br/>
            <a:r>
              <a:t>- Job type</a:t>
            </a:r>
            <a:br/>
            <a:r>
              <a:t>- Experience level</a:t>
            </a:r>
            <a:br/>
            <a:br/>
            <a:r>
              <a:t>Evaluates answers:</a:t>
            </a:r>
            <a:br/>
            <a:r>
              <a:t>~$0.01 per interview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79" y="1188720"/>
            <a:ext cx="2194560" cy="53035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F43"/>
                </a:solidFill>
                <a:latin typeface="Segoe UI"/>
              </a:defRPr>
            </a:pPr>
            <a:r>
              <a:t>  EMAIL</a:t>
            </a: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  Nodemailer</a:t>
            </a:r>
            <a:br/>
            <a:r>
              <a:t>(SMTP)</a:t>
            </a:r>
          </a:p>
          <a:p>
            <a:pPr algn="ctr">
              <a:defRPr sz="1200">
                <a:solidFill>
                  <a:srgbClr val="FF9F43"/>
                </a:solidFill>
                <a:latin typeface="Segoe UI"/>
              </a:defRPr>
            </a:pPr>
            <a:r>
              <a:t>  Transactional</a:t>
            </a:r>
            <a:br/>
            <a:r>
              <a:t>Emails</a:t>
            </a:r>
          </a:p>
          <a:p>
            <a:pPr>
              <a:defRPr sz="800">
                <a:solidFill>
                  <a:srgbClr val="606E8A"/>
                </a:solidFill>
                <a:latin typeface="Segoe UI"/>
              </a:defRPr>
            </a:pPr>
            <a:r>
              <a:t>  ──────────────────────</a:t>
            </a:r>
          </a:p>
          <a:p>
            <a:pPr>
              <a:defRPr sz="1100">
                <a:solidFill>
                  <a:srgbClr val="B0BCD4"/>
                </a:solidFill>
                <a:latin typeface="Segoe UI"/>
              </a:defRPr>
            </a:pPr>
            <a:r>
              <a:t>  Email types:</a:t>
            </a:r>
            <a:br/>
            <a:r>
              <a:t>- Verification</a:t>
            </a:r>
            <a:br/>
            <a:r>
              <a:t>- Password reset</a:t>
            </a:r>
            <a:br/>
            <a:r>
              <a:t>- Interview confirm</a:t>
            </a:r>
            <a:br/>
            <a:r>
              <a:t>- Reminders (24h,1h,15m)</a:t>
            </a:r>
            <a:br/>
            <a:r>
              <a:t>- Welcome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188720"/>
            <a:ext cx="2194560" cy="53035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4AA"/>
                </a:solidFill>
                <a:latin typeface="Segoe UI"/>
              </a:defRPr>
            </a:pPr>
            <a:r>
              <a:t>  MESSAGING</a:t>
            </a: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  WhatsApp</a:t>
            </a:r>
            <a:br/>
            <a:r>
              <a:t>Business API</a:t>
            </a:r>
          </a:p>
          <a:p>
            <a:pPr algn="ctr">
              <a:defRPr sz="1200">
                <a:solidFill>
                  <a:srgbClr val="00D4AA"/>
                </a:solidFill>
                <a:latin typeface="Segoe UI"/>
              </a:defRPr>
            </a:pPr>
            <a:r>
              <a:t>  Interview</a:t>
            </a:r>
            <a:br/>
            <a:r>
              <a:t>Reminders</a:t>
            </a:r>
          </a:p>
          <a:p>
            <a:pPr>
              <a:defRPr sz="800">
                <a:solidFill>
                  <a:srgbClr val="606E8A"/>
                </a:solidFill>
                <a:latin typeface="Segoe UI"/>
              </a:defRPr>
            </a:pPr>
            <a:r>
              <a:t>  ──────────────────────</a:t>
            </a:r>
          </a:p>
          <a:p>
            <a:pPr>
              <a:defRPr sz="1100">
                <a:solidFill>
                  <a:srgbClr val="B0BCD4"/>
                </a:solidFill>
                <a:latin typeface="Segoe UI"/>
              </a:defRPr>
            </a:pPr>
            <a:r>
              <a:t>  Auto-sends:</a:t>
            </a:r>
            <a:br/>
            <a:r>
              <a:t>- 24 hours before</a:t>
            </a:r>
            <a:br/>
            <a:r>
              <a:t>- 1 hour before</a:t>
            </a:r>
            <a:br/>
            <a:r>
              <a:t>- 15 min before</a:t>
            </a:r>
            <a:br/>
            <a:br/>
            <a:r>
              <a:t>Fallback if email</a:t>
            </a:r>
            <a:br/>
            <a:r>
              <a:t>not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How 1000s of Users Are Handled Simultaneously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4114800" cy="36576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96FF"/>
                </a:solidFill>
                <a:latin typeface="Segoe UI"/>
              </a:defRPr>
            </a:pPr>
            <a:r>
              <a:t>  1. SERVERLESS (Auto-Scales)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10 users   →   10 serverless functions spin up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100 users  →   100 functions spin up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1000 users →   1000 functions spin up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10000 users → 10000 functions spin up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No manual server management needed!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Vercel handles this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  2. DATABASE (Turso Edge)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30+ edge locations worldwide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Users connect to NEAREST region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Handles 1000s of concurrent reads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Automatic failover if region goes down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Latency: &lt;50ms (vs 200ms+ traditional DB)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3657600" cy="25603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  <a:latin typeface="Segoe UI"/>
              </a:defRPr>
            </a:pPr>
            <a:r>
              <a:t>  3. FILE STORAGE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Cloudflare R2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100+ edge CDN locations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Videos upload DIRECTLY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from browser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No bandwidth limit on server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Auto-scales infinitely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657600" cy="25603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9F43"/>
                </a:solidFill>
                <a:latin typeface="Segoe UI"/>
              </a:defRPr>
            </a:pPr>
            <a:r>
              <a:t>  4. AI QUEUE SYSTEM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OpenAI rate limit: ~500 req/min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1000 users hit AI at once: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→ Requests go into queue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→ Processed 1-by-1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→ Users see 'Processing...'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→ Upgrade = higher limits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931920"/>
            <a:ext cx="3474720" cy="256032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  5. EMAIL BATCHING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1000 emails = batched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in background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Non-blocking serverless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Can upgrade to: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- SendGrid</a:t>
            </a:r>
          </a:p>
          <a:p>
            <a:pPr>
              <a:defRPr sz="1200">
                <a:solidFill>
                  <a:srgbClr val="B0BCD4"/>
                </a:solidFill>
                <a:latin typeface="Segoe UI"/>
              </a:defRPr>
            </a:pPr>
            <a:r>
              <a:t>  - AWS SES (10k+/day)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Complete Request Flow (One Interview)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657600" cy="36576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188720"/>
            <a:ext cx="411480" cy="41148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91640"/>
            <a:ext cx="1737360" cy="19202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96FF"/>
                </a:solidFill>
                <a:latin typeface="Segoe UI"/>
              </a:defRPr>
            </a:pPr>
            <a:r>
              <a:t>Click Start</a:t>
            </a:r>
          </a:p>
          <a:p>
            <a:pPr>
              <a:defRPr sz="400"/>
            </a:pP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User clicks</a:t>
            </a:r>
            <a:br/>
            <a:r>
              <a:t>'Start Interview'</a:t>
            </a:r>
          </a:p>
        </p:txBody>
      </p:sp>
      <p:sp>
        <p:nvSpPr>
          <p:cNvPr id="7" name="Oval 6"/>
          <p:cNvSpPr/>
          <p:nvPr/>
        </p:nvSpPr>
        <p:spPr>
          <a:xfrm>
            <a:off x="2834639" y="118872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79" y="1691640"/>
            <a:ext cx="1737360" cy="19202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AA"/>
                </a:solidFill>
                <a:latin typeface="Segoe UI"/>
              </a:defRPr>
            </a:pPr>
            <a:r>
              <a:t>Rate Limit</a:t>
            </a:r>
            <a:br/>
            <a:r>
              <a:t>Check</a:t>
            </a:r>
          </a:p>
          <a:p>
            <a:pPr>
              <a:defRPr sz="400"/>
            </a:pP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Is IP blocked?</a:t>
            </a:r>
            <a:br/>
            <a:r>
              <a:t>(&gt;20 req/min = yes)</a:t>
            </a:r>
          </a:p>
        </p:txBody>
      </p:sp>
      <p:sp>
        <p:nvSpPr>
          <p:cNvPr id="9" name="Oval 8"/>
          <p:cNvSpPr/>
          <p:nvPr/>
        </p:nvSpPr>
        <p:spPr>
          <a:xfrm>
            <a:off x="4800600" y="1188720"/>
            <a:ext cx="411480" cy="4114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91640"/>
            <a:ext cx="1737360" cy="19202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JWT Auth</a:t>
            </a:r>
            <a:br/>
            <a:r>
              <a:t>Check</a:t>
            </a:r>
          </a:p>
          <a:p>
            <a:pPr>
              <a:defRPr sz="400"/>
            </a:pP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Is token valid?</a:t>
            </a:r>
            <a:br/>
            <a:r>
              <a:t>Is user logged in?</a:t>
            </a:r>
          </a:p>
        </p:txBody>
      </p:sp>
      <p:sp>
        <p:nvSpPr>
          <p:cNvPr id="11" name="Oval 10"/>
          <p:cNvSpPr/>
          <p:nvPr/>
        </p:nvSpPr>
        <p:spPr>
          <a:xfrm>
            <a:off x="6766559" y="1188720"/>
            <a:ext cx="411480" cy="4114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199" y="1691640"/>
            <a:ext cx="1737360" cy="19202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9F43"/>
                </a:solidFill>
                <a:latin typeface="Segoe UI"/>
              </a:defRPr>
            </a:pPr>
            <a:r>
              <a:t>Plan Check</a:t>
            </a:r>
          </a:p>
          <a:p>
            <a:pPr>
              <a:defRPr sz="400"/>
            </a:pP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Interview slots</a:t>
            </a:r>
            <a:br/>
            <a:r>
              <a:t>left this month?</a:t>
            </a:r>
          </a:p>
        </p:txBody>
      </p:sp>
      <p:sp>
        <p:nvSpPr>
          <p:cNvPr id="13" name="Oval 12"/>
          <p:cNvSpPr/>
          <p:nvPr/>
        </p:nvSpPr>
        <p:spPr>
          <a:xfrm>
            <a:off x="8732520" y="118872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1737360" cy="19202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AA"/>
                </a:solidFill>
                <a:latin typeface="Segoe UI"/>
              </a:defRPr>
            </a:pPr>
            <a:r>
              <a:t>API Request</a:t>
            </a:r>
          </a:p>
          <a:p>
            <a:pPr>
              <a:defRPr sz="400"/>
            </a:pP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POST /api/ai-interview</a:t>
            </a:r>
            <a:br/>
            <a:r>
              <a:t>{ userId, interviewId }</a:t>
            </a:r>
          </a:p>
        </p:txBody>
      </p:sp>
      <p:sp>
        <p:nvSpPr>
          <p:cNvPr id="15" name="Oval 14"/>
          <p:cNvSpPr/>
          <p:nvPr/>
        </p:nvSpPr>
        <p:spPr>
          <a:xfrm>
            <a:off x="10698480" y="1188720"/>
            <a:ext cx="411480" cy="41148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04120" y="1691640"/>
            <a:ext cx="1737360" cy="19202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96FF"/>
                </a:solidFill>
                <a:latin typeface="Segoe UI"/>
              </a:defRPr>
            </a:pPr>
            <a:r>
              <a:t>DB Query</a:t>
            </a:r>
          </a:p>
          <a:p>
            <a:pPr>
              <a:defRPr sz="400"/>
            </a:pP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Fetch user profile</a:t>
            </a:r>
            <a:br/>
            <a:r>
              <a:t>+ interview details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93192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434840"/>
            <a:ext cx="1737360" cy="19202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AA"/>
                </a:solidFill>
                <a:latin typeface="Segoe UI"/>
              </a:defRPr>
            </a:pPr>
            <a:r>
              <a:t>OpenAI</a:t>
            </a:r>
            <a:br/>
            <a:r>
              <a:t>Request</a:t>
            </a:r>
          </a:p>
          <a:p>
            <a:pPr>
              <a:defRPr sz="400"/>
            </a:pP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Generate 6 questions</a:t>
            </a:r>
            <a:br/>
            <a:r>
              <a:t>based on skills</a:t>
            </a:r>
          </a:p>
        </p:txBody>
      </p:sp>
      <p:sp>
        <p:nvSpPr>
          <p:cNvPr id="19" name="Oval 18"/>
          <p:cNvSpPr/>
          <p:nvPr/>
        </p:nvSpPr>
        <p:spPr>
          <a:xfrm>
            <a:off x="2834639" y="3931920"/>
            <a:ext cx="411480" cy="4114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79" y="4434840"/>
            <a:ext cx="1737360" cy="19202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User Records</a:t>
            </a:r>
            <a:br/>
            <a:r>
              <a:t>Video</a:t>
            </a:r>
          </a:p>
          <a:p>
            <a:pPr>
              <a:defRPr sz="400"/>
            </a:pP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Camera + Mic</a:t>
            </a:r>
            <a:br/>
            <a:r>
              <a:t>capture (1-2 min)</a:t>
            </a:r>
          </a:p>
        </p:txBody>
      </p:sp>
      <p:sp>
        <p:nvSpPr>
          <p:cNvPr id="21" name="Oval 20"/>
          <p:cNvSpPr/>
          <p:nvPr/>
        </p:nvSpPr>
        <p:spPr>
          <a:xfrm>
            <a:off x="4800600" y="3931920"/>
            <a:ext cx="411480" cy="4114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434840"/>
            <a:ext cx="1737360" cy="19202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9F43"/>
                </a:solidFill>
                <a:latin typeface="Segoe UI"/>
              </a:defRPr>
            </a:pPr>
            <a:r>
              <a:t>Upload to</a:t>
            </a:r>
            <a:br/>
            <a:r>
              <a:t>Cloudflare</a:t>
            </a:r>
          </a:p>
          <a:p>
            <a:pPr>
              <a:defRPr sz="400"/>
            </a:pP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Video saves directly</a:t>
            </a:r>
            <a:br/>
            <a:r>
              <a:t>to R2 (bypass server)</a:t>
            </a:r>
          </a:p>
        </p:txBody>
      </p:sp>
      <p:sp>
        <p:nvSpPr>
          <p:cNvPr id="23" name="Oval 22"/>
          <p:cNvSpPr/>
          <p:nvPr/>
        </p:nvSpPr>
        <p:spPr>
          <a:xfrm>
            <a:off x="6766559" y="393192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199" y="4434840"/>
            <a:ext cx="1737360" cy="19202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AA"/>
                </a:solidFill>
                <a:latin typeface="Segoe UI"/>
              </a:defRPr>
            </a:pPr>
            <a:r>
              <a:t>AI Evaluates</a:t>
            </a:r>
          </a:p>
          <a:p>
            <a:pPr>
              <a:defRPr sz="400"/>
            </a:pP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Scores answer:</a:t>
            </a:r>
            <a:br/>
            <a:r>
              <a:t>Accuracy + Relevance</a:t>
            </a:r>
          </a:p>
        </p:txBody>
      </p:sp>
      <p:sp>
        <p:nvSpPr>
          <p:cNvPr id="25" name="Oval 24"/>
          <p:cNvSpPr/>
          <p:nvPr/>
        </p:nvSpPr>
        <p:spPr>
          <a:xfrm>
            <a:off x="8732520" y="3931920"/>
            <a:ext cx="411480" cy="41148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434840"/>
            <a:ext cx="1737360" cy="19202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96FF"/>
                </a:solidFill>
                <a:latin typeface="Segoe UI"/>
              </a:defRPr>
            </a:pPr>
            <a:r>
              <a:t>Proctoring</a:t>
            </a:r>
          </a:p>
          <a:p>
            <a:pPr>
              <a:defRPr sz="400"/>
            </a:pP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Face detection:</a:t>
            </a:r>
            <a:br/>
            <a:r>
              <a:t>Cheating check</a:t>
            </a:r>
          </a:p>
        </p:txBody>
      </p:sp>
      <p:sp>
        <p:nvSpPr>
          <p:cNvPr id="27" name="Oval 26"/>
          <p:cNvSpPr/>
          <p:nvPr/>
        </p:nvSpPr>
        <p:spPr>
          <a:xfrm>
            <a:off x="10698480" y="393192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4434840"/>
            <a:ext cx="1737360" cy="19202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AA"/>
                </a:solidFill>
                <a:latin typeface="Segoe UI"/>
              </a:defRPr>
            </a:pPr>
            <a:r>
              <a:t>Save &amp;</a:t>
            </a:r>
            <a:br/>
            <a:r>
              <a:t>Notify</a:t>
            </a:r>
          </a:p>
          <a:p>
            <a:pPr>
              <a:defRPr sz="400"/>
            </a:pPr>
          </a:p>
          <a:p>
            <a:pPr algn="ctr">
              <a:defRPr sz="1100">
                <a:solidFill>
                  <a:srgbClr val="B0BCD4"/>
                </a:solidFill>
                <a:latin typeface="Segoe UI"/>
              </a:defRPr>
            </a:pPr>
            <a:r>
              <a:t>DB update + email</a:t>
            </a:r>
            <a:br/>
            <a:r>
              <a:t>to admin + candidate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Multi-Tenant Data Isolation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200400" cy="36576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7432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96FF"/>
                </a:solidFill>
                <a:latin typeface="Segoe UI"/>
              </a:defRPr>
            </a:pPr>
            <a:r>
              <a:t>  COMPANY A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Org: Google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Users: user1@google.com, user2@google.com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Interviews: Only Google's interviews visible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Plan: Pro ($99/month, 100 interviews)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Branding: Google colors + 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27432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A855F7"/>
                </a:solidFill>
                <a:latin typeface="Segoe UI"/>
              </a:defRPr>
            </a:pPr>
            <a:r>
              <a:t>  COMPANY B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Org: Microsoft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Users: user1@microsoft.com, user2@microsoft.com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Interviews: Only Microsoft's interviews visible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Plan: Enterprise (Unlimited interviews)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Branding: Microsoft colors + logo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  HOW ISOLATION WORKS:</a:t>
            </a:r>
          </a:p>
          <a:p>
            <a:pPr>
              <a:defRPr sz="1300">
                <a:solidFill>
                  <a:srgbClr val="B0BCD4"/>
                </a:solidFill>
                <a:latin typeface="Segoe UI"/>
              </a:defRPr>
            </a:pP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SAME DATABASE  →  Isolated by organizationId column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EVERY QUERY     →  WHERE organizationId = 'current-user-org'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RESULT          →  Google sees ONLY Google data  |  Microsoft sees ONLY Microsoft data</a:t>
            </a:r>
          </a:p>
          <a:p>
            <a:pPr>
              <a:defRPr sz="1300">
                <a:solidFill>
                  <a:srgbClr val="B0BCD4"/>
                </a:solidFill>
                <a:latin typeface="Segoe UI"/>
              </a:defRPr>
            </a:pPr>
          </a:p>
          <a:p>
            <a:pPr>
              <a:defRPr sz="1300">
                <a:solidFill>
                  <a:srgbClr val="B0BCD4"/>
                </a:solidFill>
                <a:latin typeface="Segoe UI"/>
              </a:defRPr>
            </a:pPr>
            <a:r>
              <a:t>  ⚠️  Google CANNOT see Microsoft's data</a:t>
            </a:r>
          </a:p>
          <a:p>
            <a:pPr>
              <a:defRPr sz="1300">
                <a:solidFill>
                  <a:srgbClr val="B0BCD4"/>
                </a:solidFill>
                <a:latin typeface="Segoe UI"/>
              </a:defRPr>
            </a:pPr>
            <a:r>
              <a:t>  ⚠️  Microsoft CANNOT see Google's data</a:t>
            </a:r>
          </a:p>
          <a:p>
            <a:pPr>
              <a:defRPr sz="1300">
                <a:solidFill>
                  <a:srgbClr val="B0BCD4"/>
                </a:solidFill>
                <a:latin typeface="Segoe UI"/>
              </a:defRPr>
            </a:pPr>
            <a:r>
              <a:t>  ✅  Each company is completely isolated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Cost &amp; Scalability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200400" cy="36576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943600" cy="457200"/>
          </a:xfrm>
          <a:prstGeom prst="roundRect">
            <a:avLst/>
          </a:prstGeom>
          <a:solidFill>
            <a:srgbClr val="1A2540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96FF"/>
                </a:solidFill>
                <a:latin typeface="Segoe UI"/>
              </a:defRPr>
            </a:pPr>
            <a:r>
              <a:t>  Users</a:t>
            </a:r>
          </a:p>
          <a:p>
            <a:pPr>
              <a:defRPr sz="1300" b="1">
                <a:solidFill>
                  <a:srgbClr val="0096FF"/>
                </a:solidFill>
                <a:latin typeface="Segoe UI"/>
              </a:defRPr>
            </a:pPr>
            <a:r>
              <a:t>  Cost/Month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9436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1 - 100</a:t>
            </a:r>
          </a:p>
          <a:p>
            <a:pPr>
              <a:defRPr sz="1300" b="0">
                <a:solidFill>
                  <a:srgbClr val="00D4AA"/>
                </a:solidFill>
                <a:latin typeface="Segoe UI"/>
              </a:defRPr>
            </a:pPr>
            <a:r>
              <a:t>  ~$0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5943600" cy="45720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100 - 500</a:t>
            </a:r>
          </a:p>
          <a:p>
            <a:pPr>
              <a:defRPr sz="1300" b="0">
                <a:solidFill>
                  <a:srgbClr val="00D4AA"/>
                </a:solidFill>
                <a:latin typeface="Segoe UI"/>
              </a:defRPr>
            </a:pPr>
            <a:r>
              <a:t>  ~$20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97480"/>
            <a:ext cx="59436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500 - 1,000</a:t>
            </a:r>
          </a:p>
          <a:p>
            <a:pPr>
              <a:defRPr sz="1300" b="0">
                <a:solidFill>
                  <a:srgbClr val="00D4AA"/>
                </a:solidFill>
                <a:latin typeface="Segoe UI"/>
              </a:defRPr>
            </a:pPr>
            <a:r>
              <a:t>  ~$50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5943600" cy="45720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1,000 - 5,000</a:t>
            </a:r>
          </a:p>
          <a:p>
            <a:pPr>
              <a:defRPr sz="1300" b="0">
                <a:solidFill>
                  <a:srgbClr val="00D4AA"/>
                </a:solidFill>
                <a:latin typeface="Segoe UI"/>
              </a:defRPr>
            </a:pPr>
            <a:r>
              <a:t>  ~$150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03320"/>
            <a:ext cx="5943600" cy="457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5,000 - 10,000</a:t>
            </a:r>
          </a:p>
          <a:p>
            <a:pPr>
              <a:defRPr sz="1300" b="0">
                <a:solidFill>
                  <a:srgbClr val="00D4AA"/>
                </a:solidFill>
                <a:latin typeface="Segoe UI"/>
              </a:defRPr>
            </a:pPr>
            <a:r>
              <a:t>  ~$400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188720"/>
            <a:ext cx="5029200" cy="27432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  PER-INTERVIEW COST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OpenAI API:      ~$0.01 per evaluation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Video Storage:   ~$0.005 per GB (R2)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Email:           ~$0.001 per email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─────────────────────────────</a:t>
            </a:r>
          </a:p>
          <a:p>
            <a:pPr>
              <a:defRPr sz="1300">
                <a:solidFill>
                  <a:srgbClr val="00D4AA"/>
                </a:solidFill>
                <a:latin typeface="Segoe UI"/>
              </a:defRPr>
            </a:pPr>
            <a:r>
              <a:t>  TOTAL:           ~$0.02 per interview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Revenue (Pro):   $99 / 100 = ~$0.99/interview</a:t>
            </a:r>
          </a:p>
          <a:p>
            <a:pPr>
              <a:defRPr sz="1300">
                <a:solidFill>
                  <a:srgbClr val="00D4AA"/>
                </a:solidFill>
                <a:latin typeface="Segoe UI"/>
              </a:defRPr>
            </a:pPr>
            <a:r>
              <a:t>  PROFIT MARGIN:   ~97%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11247120" cy="2286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96FF"/>
                </a:solidFill>
                <a:latin typeface="Segoe UI"/>
              </a:defRPr>
            </a:pPr>
            <a:r>
              <a:t>  SECURITY FEATURES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✅  JWT tokens (7-day expiry) for authentication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✅  bcrypt password hashing (12 rounds) – industry standard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✅  Per-IP rate limiting on sensitive endpoints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✅  Org-level data isolation (users can only see their org's data)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✅  Email verification required before full access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  ✅  Video uploads go directly to cloud (never hits our server body)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Technology Stack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2743200" cy="36576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194560" cy="24688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96FF"/>
                </a:solidFill>
                <a:latin typeface="Segoe UI"/>
              </a:defRPr>
            </a:pPr>
            <a:r>
              <a:t>Frontend + Backend</a:t>
            </a:r>
          </a:p>
          <a:p>
            <a:pPr>
              <a:defRPr sz="400"/>
            </a:pP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Next.js 16</a:t>
            </a:r>
          </a:p>
          <a:p>
            <a:pPr>
              <a:defRPr sz="400"/>
            </a:pPr>
          </a:p>
          <a:p>
            <a:pPr algn="ctr">
              <a:defRPr sz="1000">
                <a:solidFill>
                  <a:srgbClr val="B0BCD4"/>
                </a:solidFill>
                <a:latin typeface="Segoe UI"/>
              </a:defRPr>
            </a:pPr>
            <a:r>
              <a:t>One framework for everything</a:t>
            </a:r>
            <a:br/>
            <a:r>
              <a:t>Fast development &amp;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39" y="1188720"/>
            <a:ext cx="2194560" cy="24688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UI Library</a:t>
            </a:r>
          </a:p>
          <a:p>
            <a:pPr>
              <a:defRPr sz="400"/>
            </a:pP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React 19 + Tailwind CSS</a:t>
            </a:r>
          </a:p>
          <a:p>
            <a:pPr>
              <a:defRPr sz="400"/>
            </a:pPr>
          </a:p>
          <a:p>
            <a:pPr algn="ctr">
              <a:defRPr sz="1000">
                <a:solidFill>
                  <a:srgbClr val="B0BCD4"/>
                </a:solidFill>
                <a:latin typeface="Segoe UI"/>
              </a:defRPr>
            </a:pPr>
            <a:r>
              <a:t>Modern, responsive design</a:t>
            </a:r>
            <a:br/>
            <a:r>
              <a:t>Component-based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59" y="1188720"/>
            <a:ext cx="2194560" cy="24688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855F7"/>
                </a:solidFill>
                <a:latin typeface="Segoe UI"/>
              </a:defRPr>
            </a:pPr>
            <a:r>
              <a:t>Language</a:t>
            </a:r>
          </a:p>
          <a:p>
            <a:pPr>
              <a:defRPr sz="400"/>
            </a:pP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TypeScript</a:t>
            </a:r>
          </a:p>
          <a:p>
            <a:pPr>
              <a:defRPr sz="400"/>
            </a:pPr>
          </a:p>
          <a:p>
            <a:pPr algn="ctr">
              <a:defRPr sz="1000">
                <a:solidFill>
                  <a:srgbClr val="B0BCD4"/>
                </a:solidFill>
                <a:latin typeface="Segoe UI"/>
              </a:defRPr>
            </a:pPr>
            <a:r>
              <a:t>Type-safe code</a:t>
            </a:r>
            <a:br/>
            <a:r>
              <a:t>Fewer bugs 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79" y="1188720"/>
            <a:ext cx="2194560" cy="24688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F43"/>
                </a:solidFill>
                <a:latin typeface="Segoe UI"/>
              </a:defRPr>
            </a:pPr>
            <a:r>
              <a:t>Database</a:t>
            </a:r>
          </a:p>
          <a:p>
            <a:pPr>
              <a:defRPr sz="400"/>
            </a:pP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Turso (libSQL)</a:t>
            </a:r>
          </a:p>
          <a:p>
            <a:pPr>
              <a:defRPr sz="400"/>
            </a:pPr>
          </a:p>
          <a:p>
            <a:pPr algn="ctr">
              <a:defRPr sz="1000">
                <a:solidFill>
                  <a:srgbClr val="B0BCD4"/>
                </a:solidFill>
                <a:latin typeface="Segoe UI"/>
              </a:defRPr>
            </a:pPr>
            <a:r>
              <a:t>Edge database, 30+ locations</a:t>
            </a:r>
            <a:br/>
            <a:r>
              <a:t>Automatic replication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188720"/>
            <a:ext cx="2194560" cy="24688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ORM</a:t>
            </a:r>
          </a:p>
          <a:p>
            <a:pPr>
              <a:defRPr sz="400"/>
            </a:pP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Prisma 7</a:t>
            </a:r>
          </a:p>
          <a:p>
            <a:pPr>
              <a:defRPr sz="400"/>
            </a:pPr>
          </a:p>
          <a:p>
            <a:pPr algn="ctr">
              <a:defRPr sz="1000">
                <a:solidFill>
                  <a:srgbClr val="B0BCD4"/>
                </a:solidFill>
                <a:latin typeface="Segoe UI"/>
              </a:defRPr>
            </a:pPr>
            <a:r>
              <a:t>Type-safe database queries</a:t>
            </a:r>
            <a:br/>
            <a:r>
              <a:t>Auto-generated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931920"/>
            <a:ext cx="2194560" cy="24688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96FF"/>
                </a:solidFill>
                <a:latin typeface="Segoe UI"/>
              </a:defRPr>
            </a:pPr>
            <a:r>
              <a:t>AI Engine</a:t>
            </a:r>
          </a:p>
          <a:p>
            <a:pPr>
              <a:defRPr sz="400"/>
            </a:pP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OpenAI GPT-5-nano</a:t>
            </a:r>
          </a:p>
          <a:p>
            <a:pPr>
              <a:defRPr sz="400"/>
            </a:pPr>
          </a:p>
          <a:p>
            <a:pPr algn="ctr">
              <a:defRPr sz="1000">
                <a:solidFill>
                  <a:srgbClr val="B0BCD4"/>
                </a:solidFill>
                <a:latin typeface="Segoe UI"/>
              </a:defRPr>
            </a:pPr>
            <a:r>
              <a:t>Powers question generation</a:t>
            </a:r>
            <a:br/>
            <a:r>
              <a:t>+ answer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39" y="3931920"/>
            <a:ext cx="2194560" cy="24688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Payments</a:t>
            </a:r>
          </a:p>
          <a:p>
            <a:pPr>
              <a:defRPr sz="400"/>
            </a:pP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Stripe</a:t>
            </a:r>
          </a:p>
          <a:p>
            <a:pPr>
              <a:defRPr sz="400"/>
            </a:pPr>
          </a:p>
          <a:p>
            <a:pPr algn="ctr">
              <a:defRPr sz="1000">
                <a:solidFill>
                  <a:srgbClr val="B0BCD4"/>
                </a:solidFill>
                <a:latin typeface="Segoe UI"/>
              </a:defRPr>
            </a:pPr>
            <a:r>
              <a:t>Subscription billing</a:t>
            </a:r>
            <a:br/>
            <a:r>
              <a:t>Multi-currency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59" y="3931920"/>
            <a:ext cx="2194560" cy="24688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855F7"/>
                </a:solidFill>
                <a:latin typeface="Segoe UI"/>
              </a:defRPr>
            </a:pPr>
            <a:r>
              <a:t>File Storage</a:t>
            </a:r>
          </a:p>
          <a:p>
            <a:pPr>
              <a:defRPr sz="400"/>
            </a:pP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Cloudflare R2</a:t>
            </a:r>
          </a:p>
          <a:p>
            <a:pPr>
              <a:defRPr sz="400"/>
            </a:pPr>
          </a:p>
          <a:p>
            <a:pPr algn="ctr">
              <a:defRPr sz="1000">
                <a:solidFill>
                  <a:srgbClr val="B0BCD4"/>
                </a:solidFill>
                <a:latin typeface="Segoe UI"/>
              </a:defRPr>
            </a:pPr>
            <a:r>
              <a:t>Free cloud storage for videos</a:t>
            </a:r>
            <a:br/>
            <a:r>
              <a:t>Global CDN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79" y="3931920"/>
            <a:ext cx="2194560" cy="24688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F43"/>
                </a:solidFill>
                <a:latin typeface="Segoe UI"/>
              </a:defRPr>
            </a:pPr>
            <a:r>
              <a:t>Auth</a:t>
            </a:r>
          </a:p>
          <a:p>
            <a:pPr>
              <a:defRPr sz="400"/>
            </a:pP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JWT + bcrypt</a:t>
            </a:r>
          </a:p>
          <a:p>
            <a:pPr>
              <a:defRPr sz="400"/>
            </a:pPr>
          </a:p>
          <a:p>
            <a:pPr algn="ctr">
              <a:defRPr sz="1000">
                <a:solidFill>
                  <a:srgbClr val="B0BCD4"/>
                </a:solidFill>
                <a:latin typeface="Segoe UI"/>
              </a:defRPr>
            </a:pPr>
            <a:r>
              <a:t>Secure, stateless authentication</a:t>
            </a:r>
            <a:br/>
            <a:r>
              <a:t>Industry-standard hashing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3931920"/>
            <a:ext cx="2194560" cy="24688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Email</a:t>
            </a:r>
          </a:p>
          <a:p>
            <a:pPr>
              <a:defRPr sz="400"/>
            </a:pP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Nodemailer (SMTP)</a:t>
            </a:r>
          </a:p>
          <a:p>
            <a:pPr>
              <a:defRPr sz="400"/>
            </a:pPr>
          </a:p>
          <a:p>
            <a:pPr algn="ctr">
              <a:defRPr sz="1000">
                <a:solidFill>
                  <a:srgbClr val="B0BCD4"/>
                </a:solidFill>
                <a:latin typeface="Segoe UI"/>
              </a:defRPr>
            </a:pPr>
            <a:r>
              <a:t>Transactional emails</a:t>
            </a:r>
            <a:br/>
            <a:r>
              <a:t>Verification, reminders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914400"/>
            <a:ext cx="731520" cy="7315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914400" cy="9144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96FF"/>
                </a:solidFill>
                <a:latin typeface="Segoe UI"/>
              </a:defRPr>
            </a:pPr>
            <a:r>
              <a:t>Techcitta – AI-Powered Hiring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566160"/>
            <a:ext cx="2103120" cy="36576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Segoe UI"/>
              </a:defRPr>
            </a:pPr>
            <a:r>
              <a:t>Architecture &amp; System Design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E8A"/>
                </a:solidFill>
                <a:latin typeface="Segoe UI"/>
              </a:defRPr>
            </a:pPr>
            <a:r>
              <a:t>Questions?  |  Contact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E8A"/>
                </a:solidFill>
                <a:latin typeface="Segoe UI"/>
              </a:defRPr>
            </a:pPr>
            <a:r>
              <a:t>August 2026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E8A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